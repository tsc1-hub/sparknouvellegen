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E1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09160" y="1371600"/>
            <a:ext cx="45720" cy="4114800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09433"/>
                </a:solidFill>
                <a:latin typeface="Calibri"/>
              </a:rPr>
              <a:t>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BBCC"/>
                </a:solidFill>
                <a:latin typeface="Calibri"/>
              </a:rPr>
              <a:t>The Schools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Un compagnon IA pour les equipes lyceennes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SPARK guide des eleves a travers un defi entrepreneurial en 6 etapes. A chaque etape, une IA coach (Mistral) repond, analyse et debloque la suite quand la reflexion est suffisamment avancee.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51960"/>
            <a:ext cx="1280160" cy="36576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2702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B8FF"/>
                </a:solidFill>
                <a:latin typeface="Calibri"/>
              </a:rPr>
              <a:t>Eleves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4251960"/>
            <a:ext cx="1280160" cy="365760"/>
          </a:xfrm>
          <a:prstGeom prst="rect">
            <a:avLst/>
          </a:prstGeom>
          <a:solidFill>
            <a:srgbClr val="3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42702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Mentors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4251960"/>
            <a:ext cx="1280160" cy="365760"/>
          </a:xfrm>
          <a:prstGeom prst="rect">
            <a:avLst/>
          </a:prstGeom>
          <a:solidFill>
            <a:srgbClr val="5A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42702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80F0"/>
                </a:solidFill>
                <a:latin typeface="Calibri"/>
              </a:rPr>
              <a:t>Facilitateurs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  <a:latin typeface="Calibri"/>
              </a:rPr>
              <a:t>3 niveaux d'acces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01 /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7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Les 6 etapes du parcours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097280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1097280"/>
            <a:ext cx="365760" cy="8046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298448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161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Identifier le probleme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508760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Comprendre le contexte, formuler la question centrale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002536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2002536"/>
            <a:ext cx="365760" cy="8046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2203704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0665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Explorer le terrain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414016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Recherches, interviews, observations de terrain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907792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2907792"/>
            <a:ext cx="365760" cy="804672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3108960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971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9433"/>
                </a:solidFill>
                <a:latin typeface="Calibri"/>
              </a:rPr>
              <a:t>Cadrer la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319272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Proposition de valeur — Roleplay de fin d'etape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017520"/>
            <a:ext cx="1261872" cy="256032"/>
          </a:xfrm>
          <a:prstGeom prst="rect">
            <a:avLst/>
          </a:prstGeom>
          <a:solidFill>
            <a:srgbClr val="2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026664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9433"/>
                </a:solidFill>
                <a:latin typeface="Calibri"/>
              </a:rPr>
              <a:t>ROLEPLAY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813048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83480" y="3813048"/>
            <a:ext cx="365760" cy="8046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01768" y="4014216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38770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Prototyper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4224528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Maquette ou MVP — retours utilisateurs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718304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83480" y="4718304"/>
            <a:ext cx="365760" cy="8046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8" y="4919472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Piloter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5129784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Mise en oeuvre, mesure d'impact, iterations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5623560"/>
            <a:ext cx="6766560" cy="804672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83480" y="5623560"/>
            <a:ext cx="365760" cy="80467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1768" y="5824728"/>
            <a:ext cx="329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5687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Presenter &amp; convaincre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6035040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alibri"/>
              </a:rPr>
              <a:t>Pitch final devant un jury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Comment ca marche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  <a:latin typeface="Calibri"/>
              </a:rPr>
              <a:t>Le flux d'une session — de la connexion au deblocage d'etape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651760" cy="4114800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5176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1508760"/>
            <a:ext cx="548640" cy="5486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527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5BDB"/>
                </a:solidFill>
                <a:latin typeface="Calibri"/>
              </a:rPr>
              <a:t>CONNEXION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Chaque eleve entre son code equipe. SPARK charge l'historique de l'equipe.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1546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5566"/>
                </a:solidFill>
                <a:latin typeface="Calibri"/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325880"/>
            <a:ext cx="2651760" cy="4114800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325880"/>
            <a:ext cx="2651760" cy="73152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508760"/>
            <a:ext cx="548640" cy="548640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527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9433"/>
                </a:solidFill>
                <a:latin typeface="Calibri"/>
              </a:rPr>
              <a:t>DIALOGUE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3375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L'eleve pose ses reflexions. SPARK (Mistral) repond, relance et guide.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1546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5566"/>
                </a:solidFill>
                <a:latin typeface="Calibri"/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325880"/>
            <a:ext cx="2651760" cy="4114800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651760" cy="73152"/>
          </a:xfrm>
          <a:prstGeom prst="rect">
            <a:avLst/>
          </a:prstGeom>
          <a:solidFill>
            <a:srgbClr val="8A2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14616" y="1508760"/>
            <a:ext cx="548640" cy="548640"/>
          </a:xfrm>
          <a:prstGeom prst="rect">
            <a:avLst/>
          </a:prstGeom>
          <a:solidFill>
            <a:srgbClr val="8A2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1527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2BAA"/>
                </a:solidFill>
                <a:latin typeface="Calibri"/>
              </a:rPr>
              <a:t>ROLEPLAY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3375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En fin d'etape, SPARK joue un role pour tester les competences en situation.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31546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5566"/>
                </a:solidFill>
                <a:latin typeface="Calibri"/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61704" y="1325880"/>
            <a:ext cx="2651760" cy="4114800"/>
          </a:xfrm>
          <a:prstGeom prst="rect">
            <a:avLst/>
          </a:prstGeom>
          <a:solidFill>
            <a:srgbClr val="101E33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1704" y="1325880"/>
            <a:ext cx="26517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13264" y="1508760"/>
            <a:ext cx="54864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3264" y="1527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2240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DEBLOCAGE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3375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Calibri"/>
              </a:rPr>
              <a:t>Si le niveau est atteint, SPARK valide et debloque l'etape suivante.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596128"/>
            <a:ext cx="11430000" cy="658368"/>
          </a:xfrm>
          <a:prstGeom prst="rect">
            <a:avLst/>
          </a:prstGeom>
          <a:solidFill>
            <a:srgbClr val="1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669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9433"/>
                </a:solidFill>
                <a:latin typeface="Calibri"/>
              </a:rPr>
              <a:t>Focus Roleplay (Etape 3)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669280"/>
            <a:ext cx="8595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SPARK joue un collegue en reunion. L'eleve choisit ou tape sa reponse. A la fin : analyse automatique, score sur 4 criteres + moments cles. Le debrief declenche le deblocage vers l'etape 4.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Vision &amp; ce qui arrive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  <a:latin typeface="Calibri"/>
              </a:rPr>
              <a:t>Ou on en est · Ce qu'on construit · Ce qui reste a 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03520" cy="329184"/>
          </a:xfrm>
          <a:prstGeom prst="rect">
            <a:avLst/>
          </a:prstGeom>
          <a:solidFill>
            <a:srgbClr val="12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Ce qui est livre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737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Dialogue SPARK avec Mistral par etape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9424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340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Detection automatique du niveau + deblocage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52928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9443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Vue Eleve · Vue Mentor · Vue Facilitateur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56432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Carnet de Terrain genere et editable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59936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4151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Roleplay fin d'etape avec debrief anime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5303520" cy="512064"/>
          </a:xfrm>
          <a:prstGeom prst="rect">
            <a:avLst/>
          </a:prstGeom>
          <a:solidFill>
            <a:srgbClr val="0E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754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B0"/>
                </a:solidFill>
                <a:latin typeface="Calibri"/>
              </a:rPr>
              <a:t>v  Securite RLS Supabase + proxy API securise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234440"/>
            <a:ext cx="5760720" cy="329184"/>
          </a:xfrm>
          <a:prstGeom prst="rect">
            <a:avLst/>
          </a:prstGeom>
          <a:solidFill>
            <a:srgbClr val="1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9433"/>
                </a:solidFill>
                <a:latin typeface="Calibri"/>
              </a:rPr>
              <a:t>A venir —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45920"/>
            <a:ext cx="576072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901952"/>
            <a:ext cx="658368" cy="27432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9110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Saisie libre dans le roleplay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1214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L'eleve tape sa propre replique — score dynamique sur sa reponse reelle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834640"/>
            <a:ext cx="576072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90672"/>
            <a:ext cx="658368" cy="274320"/>
          </a:xfrm>
          <a:prstGeom prst="rect">
            <a:avLst/>
          </a:prstGeom>
          <a:solidFill>
            <a:srgbClr val="F09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0998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3101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Suivi de progression agrege pour les porteurs de projet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4023360"/>
            <a:ext cx="576072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279392"/>
            <a:ext cx="658368" cy="274320"/>
          </a:xfrm>
          <a:prstGeom prst="rect">
            <a:avLst/>
          </a:prstGeom>
          <a:solidFill>
            <a:srgbClr val="8A2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28853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NOTIF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Notifications temps reel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498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Alertes eleves &amp; mentors sur les nouveaux messages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5212080"/>
            <a:ext cx="5760720" cy="1078992"/>
          </a:xfrm>
          <a:prstGeom prst="rect">
            <a:avLst/>
          </a:prstGeom>
          <a:solidFill>
            <a:srgbClr val="101828"/>
          </a:solidFill>
          <a:ln w="12700">
            <a:solidFill>
              <a:srgbClr val="2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5468112"/>
            <a:ext cx="658368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47725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5303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Multi-langues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56875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Version EN + ES pour les etablissements internationaux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9433"/>
                </a:solidFill>
                <a:latin typeface="Calibri"/>
              </a:rPr>
              <a:t>SPARK · The Schools Challenge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4455"/>
                </a:solidFill>
                <a:latin typeface="Calibri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